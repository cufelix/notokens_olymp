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194560"/>
            <a:ext cx="5669280" cy="5669280"/>
          </a:xfrm>
          <a:prstGeom prst="ellipse">
            <a:avLst/>
          </a:prstGeom>
          <a:solidFill>
            <a:srgbClr val="18283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2286000"/>
            <a:ext cx="2560320" cy="2560320"/>
          </a:xfrm>
          <a:prstGeom prst="ellipse">
            <a:avLst/>
          </a:prstGeom>
          <a:solidFill>
            <a:srgbClr val="0E9E63">
              <a:alpha val="5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9718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ČESKÁ AI OLYMPIÁDA 2026  ·  AI STARTUP  ·  KRAJSKÉ PRAHA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VoltPlán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která městu řekne,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mají dobíječky smysl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kde jen utopí peníze.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4937760"/>
            <a:ext cx="3840480" cy="0"/>
          </a:xfrm>
          <a:prstGeom prst="line">
            <a:avLst/>
          </a:prstGeom>
          <a:noFill/>
          <a:ln w="25400">
            <a:solidFill>
              <a:srgbClr val="19C3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 poptávky 2030  ·  kapacita sítě  ·  férovost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SaaS pro Hl. m. Prahu · zadání AIO_PHA-02-PHA · udržitelná mobilita a energetika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 &amp; ZÁKAZNÍK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Města staví dobíječky naslepo —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platí za to.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roku 2030 musí Praha řádově znásobit veřejné dobíjení. Rozhodnutí „kam“ se dnes dělají podle dostupných pozemků a dohadů, ne podle skutečné budoucí poptávky a kapacity sítě. Výsledek: prázdné stojany na jednom místě a fronty na druhém.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214884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0" y="2148840"/>
            <a:ext cx="91440" cy="1170432"/>
          </a:xfrm>
          <a:prstGeom prst="rect">
            <a:avLst/>
          </a:prstGeom>
          <a:solidFill>
            <a:srgbClr val="E0654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39572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331" y="2571659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Mrtvé investice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0" y="2697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veřejných dobíječek končí podvyužitá — zmařené miliony z veřejných peněz.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344728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43800" y="3447288"/>
            <a:ext cx="91440" cy="1170432"/>
          </a:xfrm>
          <a:prstGeom prst="rect">
            <a:avLst/>
          </a:prstGeom>
          <a:solidFill>
            <a:srgbClr val="E0654B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0" y="3694176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331" y="3870107"/>
            <a:ext cx="324795" cy="3247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95360" y="3630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Riziko pro síť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595360" y="39959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Stanice na špatném místě přetíží trafostanici; jinde zůstává volná kapacita.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543800" y="474573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43800" y="4745736"/>
            <a:ext cx="91440" cy="1170432"/>
          </a:xfrm>
          <a:prstGeom prst="rect">
            <a:avLst/>
          </a:prstGeom>
          <a:solidFill>
            <a:srgbClr val="E0654B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0" y="499262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331" y="5168555"/>
            <a:ext cx="324795" cy="3247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Nerovnost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95360" y="52943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Bohaté čtvrti dostanou nabíjení první, okraj čeká — spirála podinvestování.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58368" y="4160520"/>
            <a:ext cx="6675120" cy="1783080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144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ZÁKAZNÍK (B2G)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14400" y="4800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8283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496702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8680" y="5486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Hl. m. Praha / MČ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6868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rozhoduje o umístění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044952" y="4800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8283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1373" y="496702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999232" y="5486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Operátor ICT / Golemio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2999232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datová platforma města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175504" y="4800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8283F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925" y="4967021"/>
            <a:ext cx="307238" cy="30723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29784" y="54864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distributor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129784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 sítě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VoltPlán oskóruje každou zónu Prahy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 seřadí, kam investovat first.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skóre 0–100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každou zónu: spojuje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mobilitu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(kde bude poptávka po EV) s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energetikou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(kde síť unese zátěž) — přesně to propojení, které zadání odměňuje.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267919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154680"/>
            <a:ext cx="2679192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44728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31" y="3623219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67712" y="34655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67712" y="3904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14400" y="4251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Predikce poptávky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4400" y="4818888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odhadne počet EV / zátěž v zóně 2030 z profilu území.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4720" y="3154680"/>
            <a:ext cx="267919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3154680"/>
            <a:ext cx="2679192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5" name="Shape 12"/>
          <p:cNvSpPr/>
          <p:nvPr/>
        </p:nvSpPr>
        <p:spPr>
          <a:xfrm>
            <a:off x="3749040" y="344728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71" y="3623219"/>
            <a:ext cx="324795" cy="3247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02352" y="34655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102352" y="3904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749040" y="4251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Mezera v pokrytí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3749040" y="4818888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Poptávka mínus dnešní stanice → kde reálně chybí kapacita.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09360" y="3154680"/>
            <a:ext cx="267919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09360" y="3154680"/>
            <a:ext cx="2679192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3" name="Shape 19"/>
          <p:cNvSpPr/>
          <p:nvPr/>
        </p:nvSpPr>
        <p:spPr>
          <a:xfrm>
            <a:off x="6583680" y="344728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11" y="3623219"/>
            <a:ext cx="324795" cy="32479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36992" y="34655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15 %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936992" y="3904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VÁHA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583680" y="4251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Rezerva sítě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6583680" y="4818888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trafostanice unese nové dobíjení bez přetížení.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144000" y="3154680"/>
            <a:ext cx="267919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44000" y="3154680"/>
            <a:ext cx="2679192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1" name="Shape 26"/>
          <p:cNvSpPr/>
          <p:nvPr/>
        </p:nvSpPr>
        <p:spPr>
          <a:xfrm>
            <a:off x="9418320" y="344728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251" y="3623219"/>
            <a:ext cx="324795" cy="3247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771632" y="34655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15 %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10771632" y="3904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VÁHA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9418320" y="42519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Férovost</a:t>
            </a:r>
            <a:endParaRPr lang="en-US" sz="1550" dirty="0"/>
          </a:p>
        </p:txBody>
      </p:sp>
      <p:sp>
        <p:nvSpPr>
          <p:cNvPr id="36" name="Text 30"/>
          <p:cNvSpPr/>
          <p:nvPr/>
        </p:nvSpPr>
        <p:spPr>
          <a:xfrm>
            <a:off x="9418320" y="4818888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Domácnosti bez vlastního stání → priorita, ne spirála.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Výstup:  </a:t>
            </a:r>
            <a:pPr algn="l" indent="0" marL="0">
              <a:buNone/>
            </a:pPr>
            <a:r>
              <a:rPr lang="en-US" sz="1250" i="1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heatmapa Prahy + žebříček TOP lokací + „proč tady“ u každé zóny → město dostane rovnou akční seznam.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Reálná data o Praze — pečlivě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oddělená od modelových cílů.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128016" cy="365760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REÁLNÉ / ODVOZENÉ VSTUPY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2 378 + 517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788920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zón Praha — trénink + vlastní holdout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685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88920" y="37216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reálných MPO dobíjecích stanic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44439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3 408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78892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trafostanic — výkon, špička, rezerva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52029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2,29 mil.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788920" y="52395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hodinových záznamů zátěže sítě (4 týdny)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286000"/>
            <a:ext cx="5349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5328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696" y="2704064"/>
            <a:ext cx="316017" cy="31601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6948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Čištění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69480" y="2816352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Chybějící hodnoty, různý zápis, duplicity z reálných zdrojů → sjednoceno.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9632" y="3538728"/>
            <a:ext cx="5349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378561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696" y="3956792"/>
            <a:ext cx="316017" cy="31601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6948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Anti-leakage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269480" y="40690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Cíle target_*_2030_synthetic a vše z nich odvozené NIKDY nejsou featura.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199632" y="4791456"/>
            <a:ext cx="5349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46520" y="5038344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96" y="5209520"/>
            <a:ext cx="316017" cy="31601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269480" y="4956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Reálné vs. modelové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269480" y="532180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_real / _derived / _synthetic rozlišeno — modelová data nejsou měření.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DATOVÁ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Sami si data sbíráme — automaticky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pořád dokola.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 neběží na jednorázovém exportu. Noční konektory stahují data z 8 zdrojů — přes API i headless scraping tam, kde API není — a samy je čistí, validují a verzují. Tím služba „žije zítra“: model se přeučuje na čerstvých datech bez ruční práce.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SCRAPOVANÉ ZDROJE  ·  8 KONEKTORŮ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429000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63016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377281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5753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Golemio API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08760" y="38313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" y="4087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parkování, polohy PID, Waze dojezdy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3429000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3429000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15" name="Shape 12"/>
          <p:cNvSpPr/>
          <p:nvPr/>
        </p:nvSpPr>
        <p:spPr>
          <a:xfrm>
            <a:off x="3675888" y="363016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34" y="3772814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35753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opendata.praha.eu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343400" y="38313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měsíčně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675888" y="4087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RÚIAN, územní plán, landuse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3429000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3429000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22" name="Shape 18"/>
          <p:cNvSpPr/>
          <p:nvPr/>
        </p:nvSpPr>
        <p:spPr>
          <a:xfrm>
            <a:off x="6510528" y="363016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3772814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78040" y="35753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ČSÚ census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178040" y="38313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ročně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510528" y="4087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populace, byty bez stání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144000" y="3429000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144000" y="3429000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29" name="Shape 24"/>
          <p:cNvSpPr/>
          <p:nvPr/>
        </p:nvSpPr>
        <p:spPr>
          <a:xfrm>
            <a:off x="9345168" y="363016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814" y="3772814"/>
            <a:ext cx="263347" cy="26334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12680" y="35753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distributor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012680" y="383133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měsíčně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9345168" y="4087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 TS, odběrová rezerva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40080" y="4626864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40080" y="4626864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36" name="Shape 30"/>
          <p:cNvSpPr/>
          <p:nvPr/>
        </p:nvSpPr>
        <p:spPr>
          <a:xfrm>
            <a:off x="841248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4970678"/>
            <a:ext cx="263347" cy="263347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508760" y="47731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ČHMÚ weather API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508760" y="50292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hodinově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841248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počasí → vliv na nabíjení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3474720" y="4626864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474720" y="4626864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43" name="Shape 36"/>
          <p:cNvSpPr/>
          <p:nvPr/>
        </p:nvSpPr>
        <p:spPr>
          <a:xfrm>
            <a:off x="3675888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534" y="4970678"/>
            <a:ext cx="263347" cy="263347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343400" y="47731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 + provozovatelé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343400" y="50292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týdně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3675888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stávající stanice + využití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309360" y="4626864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6309360" y="4626864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50" name="Shape 42"/>
          <p:cNvSpPr/>
          <p:nvPr/>
        </p:nvSpPr>
        <p:spPr>
          <a:xfrm>
            <a:off x="6510528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174" y="4970678"/>
            <a:ext cx="263347" cy="263347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178040" y="47731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7178040" y="50292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měsíčně</a:t>
            </a:r>
            <a:endParaRPr lang="en-US" sz="850" dirty="0"/>
          </a:p>
        </p:txBody>
      </p:sp>
      <p:sp>
        <p:nvSpPr>
          <p:cNvPr id="54" name="Text 45"/>
          <p:cNvSpPr/>
          <p:nvPr/>
        </p:nvSpPr>
        <p:spPr>
          <a:xfrm>
            <a:off x="6510528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silnice, POI, stožáry VO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9144000" y="4626864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9144000" y="4626864"/>
            <a:ext cx="73152" cy="1051560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57" name="Shape 48"/>
          <p:cNvSpPr/>
          <p:nvPr/>
        </p:nvSpPr>
        <p:spPr>
          <a:xfrm>
            <a:off x="9345168" y="48280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814" y="4970678"/>
            <a:ext cx="263347" cy="263347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10012680" y="47731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Zpětná vazba z appky</a:t>
            </a:r>
            <a:endParaRPr lang="en-US" sz="1200" dirty="0"/>
          </a:p>
        </p:txBody>
      </p:sp>
      <p:sp>
        <p:nvSpPr>
          <p:cNvPr id="60" name="Text 50"/>
          <p:cNvSpPr/>
          <p:nvPr/>
        </p:nvSpPr>
        <p:spPr>
          <a:xfrm>
            <a:off x="10012680" y="50292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průběžně</a:t>
            </a:r>
            <a:endParaRPr lang="en-US" sz="850" dirty="0"/>
          </a:p>
        </p:txBody>
      </p:sp>
      <p:sp>
        <p:nvSpPr>
          <p:cNvPr id="61" name="Text 51"/>
          <p:cNvSpPr/>
          <p:nvPr/>
        </p:nvSpPr>
        <p:spPr>
          <a:xfrm>
            <a:off x="9345168" y="52852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reálné využití → do modelu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640080" y="5897880"/>
            <a:ext cx="10927080" cy="566928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63" name="Text 53"/>
          <p:cNvSpPr/>
          <p:nvPr/>
        </p:nvSpPr>
        <p:spPr>
          <a:xfrm>
            <a:off x="868680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/ ingest</a:t>
            </a:r>
            <a:endParaRPr lang="en-US" sz="1050" dirty="0"/>
          </a:p>
        </p:txBody>
      </p:sp>
      <p:sp>
        <p:nvSpPr>
          <p:cNvPr id="64" name="Text 54"/>
          <p:cNvSpPr/>
          <p:nvPr/>
        </p:nvSpPr>
        <p:spPr>
          <a:xfrm>
            <a:off x="2350008" y="58978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Text 55"/>
          <p:cNvSpPr/>
          <p:nvPr/>
        </p:nvSpPr>
        <p:spPr>
          <a:xfrm>
            <a:off x="2670048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Čištění + validace</a:t>
            </a:r>
            <a:endParaRPr lang="en-US" sz="1050" dirty="0"/>
          </a:p>
        </p:txBody>
      </p:sp>
      <p:sp>
        <p:nvSpPr>
          <p:cNvPr id="66" name="Text 56"/>
          <p:cNvSpPr/>
          <p:nvPr/>
        </p:nvSpPr>
        <p:spPr>
          <a:xfrm>
            <a:off x="4151376" y="58978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67" name="Text 57"/>
          <p:cNvSpPr/>
          <p:nvPr/>
        </p:nvSpPr>
        <p:spPr>
          <a:xfrm>
            <a:off x="4471416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guard</a:t>
            </a:r>
            <a:endParaRPr lang="en-US" sz="1050" dirty="0"/>
          </a:p>
        </p:txBody>
      </p:sp>
      <p:sp>
        <p:nvSpPr>
          <p:cNvPr id="68" name="Text 58"/>
          <p:cNvSpPr/>
          <p:nvPr/>
        </p:nvSpPr>
        <p:spPr>
          <a:xfrm>
            <a:off x="5952744" y="58978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69" name="Text 59"/>
          <p:cNvSpPr/>
          <p:nvPr/>
        </p:nvSpPr>
        <p:spPr>
          <a:xfrm>
            <a:off x="6272784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(verzováno)</a:t>
            </a:r>
            <a:endParaRPr lang="en-US" sz="1050" dirty="0"/>
          </a:p>
        </p:txBody>
      </p:sp>
      <p:sp>
        <p:nvSpPr>
          <p:cNvPr id="70" name="Text 60"/>
          <p:cNvSpPr/>
          <p:nvPr/>
        </p:nvSpPr>
        <p:spPr>
          <a:xfrm>
            <a:off x="7754112" y="58978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71" name="Text 61"/>
          <p:cNvSpPr/>
          <p:nvPr/>
        </p:nvSpPr>
        <p:spPr>
          <a:xfrm>
            <a:off x="8074152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 modelu</a:t>
            </a:r>
            <a:endParaRPr lang="en-US" sz="1050" dirty="0"/>
          </a:p>
        </p:txBody>
      </p:sp>
      <p:sp>
        <p:nvSpPr>
          <p:cNvPr id="72" name="Text 62"/>
          <p:cNvSpPr/>
          <p:nvPr/>
        </p:nvSpPr>
        <p:spPr>
          <a:xfrm>
            <a:off x="9555480" y="58978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73" name="Text 63"/>
          <p:cNvSpPr/>
          <p:nvPr/>
        </p:nvSpPr>
        <p:spPr>
          <a:xfrm>
            <a:off x="9875520" y="5897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Nové skóre v appce</a:t>
            </a:r>
            <a:endParaRPr lang="en-US" sz="1050" dirty="0"/>
          </a:p>
        </p:txBody>
      </p:sp>
      <p:sp>
        <p:nvSpPr>
          <p:cNvPr id="74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— JÁDRO TECHNIKY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Opravdová AI, ne tabulka.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umíme to dokázat.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60 anti-leakage featurách (zástavba, byty bez stání, parking, MHD, rezerva sítě…). Trénink na 2 378 zónách, ověření na odděleném holdoutu 517 zón.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971800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99" y="3147731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9169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−17 %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383280" y="29535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nižší chyba (MAE) než triviální „úměrně populaci“ pravidlo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3959352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99" y="4135283"/>
            <a:ext cx="324795" cy="3247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P@50 = 0,84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383280" y="39410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50 nejžhavějších zón model trefí 42 správně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8368" y="494690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99" y="5122835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81328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83,8 %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3383280" y="49286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přesnost doporučení typu stanice (AC / DC / hub)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0" y="1783080"/>
            <a:ext cx="3776472" cy="416052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0" y="1783080"/>
            <a:ext cx="3776472" cy="9144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9" name="Text 14"/>
          <p:cNvSpPr/>
          <p:nvPr/>
        </p:nvSpPr>
        <p:spPr>
          <a:xfrm>
            <a:off x="804672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5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TO AI, NE PRAVIDLO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80720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58200" y="27432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Učí se z 60 signálů naráz — ne z jednoho „hodně lidí → velký hub“.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79476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373075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Najde i méně očekávané sedící lokace (serendipity), ne jen centrum.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78231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58200" y="4718304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Měříme proti baseline → víme, KDY model platí a kdy ne.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VÝSLEDKY &amp; ŽIVÉ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 modelu rovnou akční seznam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radnici.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943600" cy="3657600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324612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8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7947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ŽIVÉHO DEMA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5577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Interaktivní mapa Prahy — heatmapa skóre, filtr po obvodech, popup „proč tady“, export pro úřad.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DOPORUČENÁ LOKACE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2606040"/>
            <a:ext cx="4709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606040"/>
            <a:ext cx="109728" cy="13716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91,1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11403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27432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TS_3820 · Praha 13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 ~201 EV 2030 · jen 1 stanice dnes · volná rezerva sítě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0" y="4160520"/>
            <a:ext cx="1463040" cy="1783080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517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903720" y="5166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zón oskórováno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49056" y="4160520"/>
            <a:ext cx="1463040" cy="1783080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94776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TOP-N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494776" y="5166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žebříček pro úřad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040112" y="4160520"/>
            <a:ext cx="1463040" cy="1783080"/>
          </a:xfrm>
          <a:prstGeom prst="rect">
            <a:avLst/>
          </a:prstGeom>
          <a:solidFill>
            <a:srgbClr val="0E1726"/>
          </a:solidFill>
          <a:ln/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085832" y="4434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/ mapa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10085832" y="5166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výstupů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BYZNYS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Roční licence — protože plánování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města nikdy nekončí.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Opakovaná hodnota, opakovaný příjem: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město neplatí jednorázovou studii, ale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živou službu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která se aktualizuje s novými daty a scénáři růstu EV.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679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17520"/>
            <a:ext cx="82296" cy="292608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1012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085" y="3490813"/>
            <a:ext cx="333573" cy="3335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1148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Roční SaaS licence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645152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Předplatné pro HMP / MČ / Operátora ICT za přístup + pravidelnou aktualizaci skóre.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3017520"/>
            <a:ext cx="2679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3017520"/>
            <a:ext cx="82296" cy="292608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3" name="Shape 10"/>
          <p:cNvSpPr/>
          <p:nvPr/>
        </p:nvSpPr>
        <p:spPr>
          <a:xfrm>
            <a:off x="3749040" y="331012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725" y="3490813"/>
            <a:ext cx="333573" cy="3335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41148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Návratnost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4645152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chybně umístěná DC stanice = stovky tisíc až miliony Kč. VoltPlán ji zaplatí mnohonásobně.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3017520"/>
            <a:ext cx="2679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3017520"/>
            <a:ext cx="82296" cy="292608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9" name="Shape 15"/>
          <p:cNvSpPr/>
          <p:nvPr/>
        </p:nvSpPr>
        <p:spPr>
          <a:xfrm>
            <a:off x="6583680" y="331012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365" y="3490813"/>
            <a:ext cx="333573" cy="3335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41148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Datová smyčka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83680" y="4645152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Reálné využití stanic teče zpět do modelu → predikce se v čase zpřesňuje. Služba žije.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44000" y="3017520"/>
            <a:ext cx="2679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0" y="3017520"/>
            <a:ext cx="82296" cy="292608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0" y="3310128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9005" y="3490813"/>
            <a:ext cx="333573" cy="3335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0" y="41148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Škálování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418320" y="4645152"/>
            <a:ext cx="2221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engine na 22 MČ Prahy → další krajská města → distributoři. Marginální náklad ~0.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4572000" cy="4572000"/>
          </a:xfrm>
          <a:prstGeom prst="ellipse">
            <a:avLst/>
          </a:prstGeom>
          <a:solidFill>
            <a:srgbClr val="1828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NÁŠ ÚHEL &amp; SVĚTOVÝ TREND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Osvědčený přístup ze světa,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lokalizovaný na Prahu.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„EV suitability scoring“ je ve světě prověřený obor — my ho jako první stavíme na pražská data o síti a férovosti.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79192" cy="141732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2679192" cy="73152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NCSU EVSE Map (USA)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mapa + vrstva kapacity sítě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2679192" cy="141732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514600"/>
            <a:ext cx="2679192" cy="73152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770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StreetLight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2918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/ Justice40 — férovost v plánování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514600"/>
            <a:ext cx="2679192" cy="141732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514600"/>
            <a:ext cx="2679192" cy="73152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770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EV-Planner, ILIT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32918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multi-kritériální umístění dobíječek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2514600"/>
            <a:ext cx="2679192" cy="141732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2514600"/>
            <a:ext cx="2679192" cy="73152"/>
          </a:xfrm>
          <a:prstGeom prst="rect">
            <a:avLst/>
          </a:prstGeom>
          <a:solidFill>
            <a:srgbClr val="1FA8C9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7706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Driivz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72600" y="32918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ROI a využití stanic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10927080" cy="1600200"/>
          </a:xfrm>
          <a:prstGeom prst="rect">
            <a:avLst/>
          </a:prstGeom>
          <a:solidFill>
            <a:srgbClr val="0E9E63">
              <a:alpha val="88000"/>
            </a:srgbClr>
          </a:solidFill>
          <a:ln w="12700">
            <a:solidFill>
              <a:srgbClr val="19C3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52628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9C37D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4740250"/>
            <a:ext cx="395021" cy="39502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01168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NÁŠ DIFERENCIÁTOR PRO PRAHU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011680" y="4828032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Spojujeme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mobilitu × energetiku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rezerva trafostanic z PRE vrstvy + equity (byty bez stání) + scénáře růstu EV + vysvětlení „proč tady“. To samotná zahraniční tabulka neumí.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&amp; ODPOVĚDNOST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Čtyři rizika, která bereme vážně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ne dodatek, ale součást návrhu.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606040"/>
            <a:ext cx="91440" cy="141732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986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08408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088" y="2825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Chybná predikce &amp; odpovědnost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47088" y="32278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podpora rozhodnutí, ne autopilot. Doporučení = vstup pro úředníka, finální slovo má člověk.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6060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606040"/>
            <a:ext cx="91440" cy="141732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2" name="Shape 9"/>
          <p:cNvSpPr/>
          <p:nvPr/>
        </p:nvSpPr>
        <p:spPr>
          <a:xfrm>
            <a:off x="6446520" y="28986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960" y="308408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9208" y="2825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Soukromí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79208" y="32278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Pracujeme s agregovanými daty na úrovni zón a sítě — žádné sledování pohybu jednotlivců.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4206240"/>
            <a:ext cx="91440" cy="141732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44988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4684288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47088" y="44256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Spravedlnost &amp; cold-start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847088" y="48280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equity_weight chrání okrajové a chudší čtvrti před spirálou podinvestování. Férovost je přímo ve skóre.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42062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0E1726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72200" y="4206240"/>
            <a:ext cx="91440" cy="141732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4" name="Shape 19"/>
          <p:cNvSpPr/>
          <p:nvPr/>
        </p:nvSpPr>
        <p:spPr>
          <a:xfrm>
            <a:off x="6446520" y="44988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E172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60" y="4684288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9208" y="44256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7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Komunikace nejistoty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379208" y="48280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 2030 ukazujeme jako pásmo scénářů (konzervativní / střední / ambiciózní), ne jedno „zaručené“ číslo.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skóruje 2× — </a:t>
            </a:r>
            <a:pPr algn="l" indent="0" marL="0">
              <a:buNone/>
            </a:pPr>
            <a:r>
              <a:rPr lang="en-US" sz="1300" i="1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technicky (málo dat o okraji) i eticky (spravedlnost). U nás je to jeden a tentýž mechanismus.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4754880" cy="4754880"/>
          </a:xfrm>
          <a:prstGeom prst="ellipse">
            <a:avLst/>
          </a:prstGeom>
          <a:solidFill>
            <a:srgbClr val="1828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ETIKA ZABUDOVANÁ V PRODUKTU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Etika není slide navíc —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to kód, který běží.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Každé ze čtyř rizik má v systému konkrétní mechanismus. Nejsou to sliby do pitche — jsou to vlastnosti, které jsou v produktu vidět a dají se zkontrolovat.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06040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86207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735" y="3018983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89864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Férovost ve skóre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6112" y="352044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equity_weight = 15 % suitability. Čtvrti s byty bez stání dostávají prioritu přímo ve vzorci → cold-start spirálu lámeme matematicky, ne dobrou vůlí.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2606040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2606040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286207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775" y="3018983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89864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Indikátor jistoty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45152" y="352044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Zóny s řídkými daty dostanou nižší confidence a jsou v mapě označené. Model neříká „nevím“ potichu — řekne to nahlas.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2606040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38160" y="2606040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0" name="Shape 16"/>
          <p:cNvSpPr/>
          <p:nvPr/>
        </p:nvSpPr>
        <p:spPr>
          <a:xfrm>
            <a:off x="8375904" y="2862072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815" y="3018983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98280" y="2898648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Člověk rozhoduje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94192" y="3520440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Doporučení = návrh pro úředníka, ne příkaz. Každé skóre má audit log (vstupy + verze modelu) → rozhodnutí je dohledatelné.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4398264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4398264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6" name="Shape 21"/>
          <p:cNvSpPr/>
          <p:nvPr/>
        </p:nvSpPr>
        <p:spPr>
          <a:xfrm>
            <a:off x="877824" y="465429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35" y="4811207"/>
            <a:ext cx="289682" cy="28968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69087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Pásmo, ne jedno číslo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96112" y="5312664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 2030 jako 3 scénáře růstu EV (konzervativní / střední / ambiciózní). Nejistotu komunikujeme, neschováváme.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4398264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89120" y="4398264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2" name="Shape 26"/>
          <p:cNvSpPr/>
          <p:nvPr/>
        </p:nvSpPr>
        <p:spPr>
          <a:xfrm>
            <a:off x="4626864" y="465429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775" y="4811207"/>
            <a:ext cx="289682" cy="28968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49240" y="469087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dat (GDPR)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645152" y="5312664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Pracujeme jen s agregáty na úroveň zóny a sítě. Žádná osobní data, žádné sledování jednotlivých vozidel ani lidí.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138160" y="4398264"/>
            <a:ext cx="3584448" cy="1627632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138160" y="4398264"/>
            <a:ext cx="3584448" cy="73152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8" name="Shape 31"/>
          <p:cNvSpPr/>
          <p:nvPr/>
        </p:nvSpPr>
        <p:spPr>
          <a:xfrm>
            <a:off x="8375904" y="4654296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815" y="4811207"/>
            <a:ext cx="289682" cy="28968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98280" y="469087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Vysvětlitelnost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394192" y="5312664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každé zóny „proč tady“ (top důvody + feature importance). Žádný black-box — město i občan vidí, na čem skóre stojí.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VoltPlán</a:t>
            </a:r>
            <a:pPr algn="l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AIO_PHA-02-PHA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1063721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5120640" cy="5120640"/>
          </a:xfrm>
          <a:prstGeom prst="ellipse">
            <a:avLst/>
          </a:prstGeom>
          <a:solidFill>
            <a:srgbClr val="1828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9C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3268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Tři lidé, jedna běžící linie,</a:t>
            </a:r>
            <a:endParaRPr lang="en-US" sz="3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hotové demo.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3474720" cy="182880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788920"/>
            <a:ext cx="3474720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3063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32534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4708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&amp; data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50976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predikce, suitability, anti-leakage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2788920"/>
            <a:ext cx="3474720" cy="182880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688" y="2788920"/>
            <a:ext cx="3474720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6008" y="3063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03" y="325343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040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Aplikace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54296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běžící mapa + živé demo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65008" y="2788920"/>
            <a:ext cx="3474720" cy="1828800"/>
          </a:xfrm>
          <a:prstGeom prst="rect">
            <a:avLst/>
          </a:prstGeom>
          <a:solidFill>
            <a:srgbClr val="18283F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5008" y="2788920"/>
            <a:ext cx="3474720" cy="82296"/>
          </a:xfrm>
          <a:prstGeom prst="rect">
            <a:avLst/>
          </a:prstGeom>
          <a:solidFill>
            <a:srgbClr val="19C37D"/>
          </a:solidFill>
          <a:ln/>
        </p:spPr>
      </p:sp>
      <p:sp>
        <p:nvSpPr>
          <p:cNvPr id="20" name="Shape 16"/>
          <p:cNvSpPr/>
          <p:nvPr/>
        </p:nvSpPr>
        <p:spPr>
          <a:xfrm>
            <a:off x="8339328" y="3063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0E9E6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3" y="325343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5372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Byznys &amp; pitch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57616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licence, ROI, etika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77240" y="5120640"/>
            <a:ext cx="3840480" cy="0"/>
          </a:xfrm>
          <a:prstGeom prst="line">
            <a:avLst/>
          </a:prstGeom>
          <a:noFill/>
          <a:ln w="25400">
            <a:solidFill>
              <a:srgbClr val="19C37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C3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VoltPlán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město přestane stavět naslepo. Děkujeme.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7772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Česká AI Olympiáda 2026 · AI Startup · AIO_PHA-02-PHA · krajské kolo Praha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Česká AI Olympiáda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VoltPlán — AI pro chytré rozmístění EV dobíjení v Praze</dc:title>
  <dc:subject>PptxGenJS Presentation</dc:subject>
  <dc:creator>Tým VoltPlán</dc:creator>
  <cp:lastModifiedBy>Tým VoltPlán</cp:lastModifiedBy>
  <cp:revision>1</cp:revision>
  <dcterms:created xsi:type="dcterms:W3CDTF">2026-06-09T11:00:20Z</dcterms:created>
  <dcterms:modified xsi:type="dcterms:W3CDTF">2026-06-09T11:00:20Z</dcterms:modified>
</cp:coreProperties>
</file>