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2194560"/>
            <a:ext cx="5669280" cy="5669280"/>
          </a:xfrm>
          <a:prstGeom prst="ellipse">
            <a:avLst/>
          </a:prstGeom>
          <a:solidFill>
            <a:srgbClr val="18283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0" y="2286000"/>
            <a:ext cx="2560320" cy="2560320"/>
          </a:xfrm>
          <a:prstGeom prst="ellipse">
            <a:avLst/>
          </a:prstGeom>
          <a:solidFill>
            <a:srgbClr val="0E9E63">
              <a:alpha val="55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97180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ČESKÁ AI OLYMPIÁDA 2026  ·  AI STARTUP  ·  KRAJSKÉ PRAHA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8745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VoltPlán</a:t>
            </a:r>
            <a:endParaRPr lang="en-US" sz="700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která městu řekne, </a:t>
            </a:r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KDE mají dobíječky smysl</a:t>
            </a:r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kde jen utopí peníze.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77240" y="4937760"/>
            <a:ext cx="3840480" cy="0"/>
          </a:xfrm>
          <a:prstGeom prst="line">
            <a:avLst/>
          </a:prstGeom>
          <a:noFill/>
          <a:ln w="25400">
            <a:solidFill>
              <a:srgbClr val="19C37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Predikce poptávky 2030  ·  kapacita sítě  ·  férovost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724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B2G SaaS pro Hl. m. Prahu · zadání AIO_PHA-02-PHA · udržitelná mobilita a energetika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 &amp; ZÁKAZNÍK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Města staví dobíječky naslepo —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platí za to.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roku 2030 musí Praha řádově znásobit veřejné dobíjení. Rozhodnutí „kam“ se dnes dělají podle dostupných pozemků a dohadů, ne podle skutečné budoucí poptávky a kapacity sítě. Výsledek: prázdné stojany na jednom místě a fronty na druhém.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43800" y="214884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43800" y="2148840"/>
            <a:ext cx="91440" cy="1170432"/>
          </a:xfrm>
          <a:prstGeom prst="rect">
            <a:avLst/>
          </a:prstGeom>
          <a:solidFill>
            <a:srgbClr val="E0654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0" y="2395728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8331" y="2571659"/>
            <a:ext cx="324795" cy="324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9536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Mrtvé investice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95360" y="26974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 veřejných dobíječek končí podvyužitá — zmařené miliony z veřejných peněz.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3447288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543800" y="3447288"/>
            <a:ext cx="91440" cy="1170432"/>
          </a:xfrm>
          <a:prstGeom prst="rect">
            <a:avLst/>
          </a:prstGeom>
          <a:solidFill>
            <a:srgbClr val="E0654B"/>
          </a:solidFill>
          <a:ln/>
        </p:spPr>
      </p:sp>
      <p:sp>
        <p:nvSpPr>
          <p:cNvPr id="13" name="Shape 10"/>
          <p:cNvSpPr/>
          <p:nvPr/>
        </p:nvSpPr>
        <p:spPr>
          <a:xfrm>
            <a:off x="7772400" y="3694176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331" y="3870107"/>
            <a:ext cx="324795" cy="32479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595360" y="3630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Riziko pro síť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595360" y="399592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Stanice na špatném místě přetíží trafostanici; jinde zůstává volná kapacita.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543800" y="4745736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43800" y="4745736"/>
            <a:ext cx="91440" cy="1170432"/>
          </a:xfrm>
          <a:prstGeom prst="rect">
            <a:avLst/>
          </a:prstGeom>
          <a:solidFill>
            <a:srgbClr val="E0654B"/>
          </a:solidFill>
          <a:ln/>
        </p:spPr>
      </p:sp>
      <p:sp>
        <p:nvSpPr>
          <p:cNvPr id="19" name="Shape 15"/>
          <p:cNvSpPr/>
          <p:nvPr/>
        </p:nvSpPr>
        <p:spPr>
          <a:xfrm>
            <a:off x="7772400" y="4992624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31" y="5168555"/>
            <a:ext cx="324795" cy="3247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95360" y="49286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Nerovnost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595360" y="529437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Bohaté čtvrti dostanou nabíjení první, okraj čeká — spirála podinvestování.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58368" y="4160520"/>
            <a:ext cx="6675120" cy="1783080"/>
          </a:xfrm>
          <a:prstGeom prst="rect">
            <a:avLst/>
          </a:prstGeom>
          <a:solidFill>
            <a:srgbClr val="0E1726"/>
          </a:solidFill>
          <a:ln/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91440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ZÁKAZNÍK (B2G)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914400" y="48006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18283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821" y="4967021"/>
            <a:ext cx="307238" cy="30723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68680" y="54864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Hl. m. Praha / MČ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868680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rozhoduje o umístění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044952" y="48006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18283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1373" y="4967021"/>
            <a:ext cx="307238" cy="30723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2999232" y="54864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Operátor ICT / Golemio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2999232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datová platforma města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5175504" y="480060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18283F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1925" y="4967021"/>
            <a:ext cx="307238" cy="30723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129784" y="54864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 / distributor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129784" y="5742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kapacita sítě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38" name="Text 30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VoltPlán oskóruje každou zónu Prahy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 seřadí, kam investovat first.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skóre 0–100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každou zónu: spojuje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mobilitu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(kde bude poptávka po EV) s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energetikou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(kde síť unese zátěž) — přesně to propojení, které zadání odměňuje.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679192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154680"/>
            <a:ext cx="2679192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447288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331" y="3623219"/>
            <a:ext cx="324795" cy="324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67712" y="34655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267712" y="390448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VÁHA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914400" y="425196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Predikce poptávky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914400" y="4818888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odhadne počet EV / zátěž v zóně 2030 z profilu území.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474720" y="3154680"/>
            <a:ext cx="2679192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3154680"/>
            <a:ext cx="2679192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5" name="Shape 12"/>
          <p:cNvSpPr/>
          <p:nvPr/>
        </p:nvSpPr>
        <p:spPr>
          <a:xfrm>
            <a:off x="3749040" y="3447288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971" y="3623219"/>
            <a:ext cx="324795" cy="32479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02352" y="34655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5102352" y="390448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VÁHA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749040" y="425196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Mezera v pokrytí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3749040" y="4818888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Poptávka mínus dnešní stanice → kde reálně chybí kapacita.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309360" y="3154680"/>
            <a:ext cx="2679192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09360" y="3154680"/>
            <a:ext cx="2679192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23" name="Shape 19"/>
          <p:cNvSpPr/>
          <p:nvPr/>
        </p:nvSpPr>
        <p:spPr>
          <a:xfrm>
            <a:off x="6583680" y="3447288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611" y="3623219"/>
            <a:ext cx="324795" cy="324795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936992" y="34655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15 %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7936992" y="390448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VÁHA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583680" y="425196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Rezerva sítě</a:t>
            </a:r>
            <a:endParaRPr lang="en-US" sz="1550" dirty="0"/>
          </a:p>
        </p:txBody>
      </p:sp>
      <p:sp>
        <p:nvSpPr>
          <p:cNvPr id="28" name="Text 23"/>
          <p:cNvSpPr/>
          <p:nvPr/>
        </p:nvSpPr>
        <p:spPr>
          <a:xfrm>
            <a:off x="6583680" y="4818888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Kde trafostanice unese nové dobíjení bez přetížení.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144000" y="3154680"/>
            <a:ext cx="2679192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144000" y="3154680"/>
            <a:ext cx="2679192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31" name="Shape 26"/>
          <p:cNvSpPr/>
          <p:nvPr/>
        </p:nvSpPr>
        <p:spPr>
          <a:xfrm>
            <a:off x="9418320" y="3447288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4251" y="3623219"/>
            <a:ext cx="324795" cy="324795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771632" y="346557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15 %</a:t>
            </a:r>
            <a:endParaRPr lang="en-US" sz="2200" dirty="0"/>
          </a:p>
        </p:txBody>
      </p:sp>
      <p:sp>
        <p:nvSpPr>
          <p:cNvPr id="34" name="Text 28"/>
          <p:cNvSpPr/>
          <p:nvPr/>
        </p:nvSpPr>
        <p:spPr>
          <a:xfrm>
            <a:off x="10771632" y="390448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VÁHA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9418320" y="425196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Férovost</a:t>
            </a:r>
            <a:endParaRPr lang="en-US" sz="1550" dirty="0"/>
          </a:p>
        </p:txBody>
      </p:sp>
      <p:sp>
        <p:nvSpPr>
          <p:cNvPr id="36" name="Text 30"/>
          <p:cNvSpPr/>
          <p:nvPr/>
        </p:nvSpPr>
        <p:spPr>
          <a:xfrm>
            <a:off x="9418320" y="4818888"/>
            <a:ext cx="2221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Domácnosti bez vlastního stání → priorita, ne spirála.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i="1" dirty="0">
                <a:solidFill>
                  <a:srgbClr val="0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Výstup:  </a:t>
            </a:r>
            <a:pPr algn="l" indent="0" marL="0">
              <a:buNone/>
            </a:pPr>
            <a:r>
              <a:rPr lang="en-US" sz="1250" i="1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heatmapa Prahy + žebříček TOP lokací + „proč tady“ u každé zóny → město dostane rovnou akční seznam.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39" name="Text 33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Reálná data o Praze — pečlivě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oddělená od modelových cílů.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286000"/>
            <a:ext cx="128016" cy="3657600"/>
          </a:xfrm>
          <a:prstGeom prst="rect">
            <a:avLst/>
          </a:prstGeom>
          <a:solidFill>
            <a:srgbClr val="1FA8C9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 / ODVOZENÉ VSTUPY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2 378 + 517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788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zón Praha — trénink + vlastní holdout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3685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855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788920" y="3721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reálných MPO dobíjecích stanic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44439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3 408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788920" y="4480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trafostanic — výkon, špička, rezerva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52029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2,29 mil.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2788920" y="52395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hodinových záznamů zátěže sítě (4 týdny)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2286000"/>
            <a:ext cx="53492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2532888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7696" y="2704064"/>
            <a:ext cx="316017" cy="316017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269480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Čištění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269480" y="2816352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Chybějící hodnoty, různý zápis, duplicity z reálných zdrojů → sjednoceno.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3538728"/>
            <a:ext cx="53492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46520" y="3785616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696" y="3956792"/>
            <a:ext cx="316017" cy="316017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269480" y="3703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Anti-leakage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7269480" y="406908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target_*_2030_synthetic a vše z nich odvozené NIKDY nejsou featura.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199632" y="4791456"/>
            <a:ext cx="53492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6446520" y="5038344"/>
            <a:ext cx="658368" cy="658368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696" y="5209520"/>
            <a:ext cx="316017" cy="316017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269480" y="4956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Reálné vs. modelové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7269480" y="532180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_real / _derived / _synthetic rozlišeno — modelová data nejsou měření.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— JÁDRO TECHNIKY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Opravdová AI, ne tabulka.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umíme to dokázat.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60 anti-leakage featurách (zástavba, byty bez stání, parking, MHD, rezerva sítě…). Trénink na 2 378 zónách, ověření na odděleném holdoutu 517 zón.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58368" y="2971800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299" y="3147731"/>
            <a:ext cx="324795" cy="32479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291693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−17 %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3383280" y="2953512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nižší chyba (MAE) než triviální „úměrně populaci“ pravidlo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" y="3959352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9" y="4135283"/>
            <a:ext cx="324795" cy="3247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81328" y="39044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P@50 = 0,84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3383280" y="3941064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50 nejžhavějších zón model trefí 42 správně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58368" y="4946904"/>
            <a:ext cx="676656" cy="676656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99" y="5122835"/>
            <a:ext cx="324795" cy="32479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81328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83,8 %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3383280" y="492861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přesnost doporučení typu stanice (AC / DC / hub)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772400" y="1783080"/>
            <a:ext cx="3776472" cy="416052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0" y="1783080"/>
            <a:ext cx="3776472" cy="9144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9" name="Text 14"/>
          <p:cNvSpPr/>
          <p:nvPr/>
        </p:nvSpPr>
        <p:spPr>
          <a:xfrm>
            <a:off x="8046720" y="2057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5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JE TO AI, NE PRAVIDLO</a:t>
            </a:r>
            <a:endParaRPr lang="en-US" sz="12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2807208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458200" y="27432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Učí se z 60 signálů naráz — ne z jednoho „hodně lidí → velký hub“.</a:t>
            </a:r>
            <a:endParaRPr lang="en-US" sz="12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794760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458200" y="37307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Najde i méně očekávané sedící lokace (serendipity), ne jen centrum.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4782312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458200" y="4718304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Měříme proti baseline → víme, KDY model platí a kdy ne.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27" name="Text 1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VÝSLEDKY &amp; ŽIVÉ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 modelu rovnou akční seznam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 radnici.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943600" cy="3657600"/>
          </a:xfrm>
          <a:prstGeom prst="rect">
            <a:avLst/>
          </a:prstGeom>
          <a:solidFill>
            <a:srgbClr val="0E1726"/>
          </a:solidFill>
          <a:ln/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651760" y="3246120"/>
            <a:ext cx="1920240" cy="1920240"/>
          </a:xfrm>
          <a:prstGeom prst="roundRect">
            <a:avLst>
              <a:gd name="adj" fmla="val 9524"/>
            </a:avLst>
          </a:prstGeom>
          <a:solidFill>
            <a:srgbClr val="1828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79476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57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ŽIVÉHO DEMA 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5577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Interaktivní mapa Prahy — heatmapa skóre, filtr po obvodech, popup „proč tady“, export pro úřad.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DOPORUČENÁ LOKACE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0" y="2606040"/>
            <a:ext cx="47091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58000" y="2606040"/>
            <a:ext cx="109728" cy="137160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2" name="Text 9"/>
          <p:cNvSpPr/>
          <p:nvPr/>
        </p:nvSpPr>
        <p:spPr>
          <a:xfrm>
            <a:off x="708660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91,1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114032" y="3520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/100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95360" y="274320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TS_3820 · Praha 13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predikce ~201 EV 2030 · jen 1 stanice dnes · volná rezerva sítě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858000" y="4160520"/>
            <a:ext cx="1463040" cy="1783080"/>
          </a:xfrm>
          <a:prstGeom prst="rect">
            <a:avLst/>
          </a:prstGeom>
          <a:solidFill>
            <a:srgbClr val="0E1726"/>
          </a:solidFill>
          <a:ln/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903720" y="4434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517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6903720" y="5166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zón oskórováno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449056" y="4160520"/>
            <a:ext cx="1463040" cy="1783080"/>
          </a:xfrm>
          <a:prstGeom prst="rect">
            <a:avLst/>
          </a:prstGeom>
          <a:solidFill>
            <a:srgbClr val="0E1726"/>
          </a:solidFill>
          <a:ln/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494776" y="4434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TOP-N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8494776" y="5166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žebříček pro úřad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040112" y="4160520"/>
            <a:ext cx="1463040" cy="1783080"/>
          </a:xfrm>
          <a:prstGeom prst="rect">
            <a:avLst/>
          </a:prstGeom>
          <a:solidFill>
            <a:srgbClr val="0E1726"/>
          </a:solidFill>
          <a:ln/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0085832" y="44348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CSV / mapa</a:t>
            </a:r>
            <a:endParaRPr lang="en-US" sz="2300" dirty="0"/>
          </a:p>
        </p:txBody>
      </p:sp>
      <p:sp>
        <p:nvSpPr>
          <p:cNvPr id="23" name="Text 20"/>
          <p:cNvSpPr/>
          <p:nvPr/>
        </p:nvSpPr>
        <p:spPr>
          <a:xfrm>
            <a:off x="10085832" y="5166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výstupů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BYZNYS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Roční licence — protože plánování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města nikdy nekončí.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Opakovaná hodnota, opakovaný příjem: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město neplatí jednorázovou studii, ale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živou službu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která se aktualizuje s novými daty a scénáři růstu EV.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267919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3017520"/>
            <a:ext cx="82296" cy="292608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310128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5" y="3490813"/>
            <a:ext cx="333573" cy="33357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411480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Roční SaaS licence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4645152"/>
            <a:ext cx="22219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Předplatné pro HMP / MČ / Operátora ICT za přístup + pravidelnou aktualizaci skóre.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74720" y="3017520"/>
            <a:ext cx="267919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74720" y="3017520"/>
            <a:ext cx="82296" cy="292608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49040" y="3310128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725" y="3490813"/>
            <a:ext cx="333573" cy="33357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49040" y="411480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Návratnost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749040" y="4645152"/>
            <a:ext cx="22219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chybně umístěná DC stanice = stovky tisíc až miliony Kč. VoltPlán ji zaplatí mnohonásobně.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309360" y="3017520"/>
            <a:ext cx="267919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09360" y="3017520"/>
            <a:ext cx="82296" cy="292608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9" name="Shape 15"/>
          <p:cNvSpPr/>
          <p:nvPr/>
        </p:nvSpPr>
        <p:spPr>
          <a:xfrm>
            <a:off x="6583680" y="3310128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365" y="3490813"/>
            <a:ext cx="333573" cy="33357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583680" y="411480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Datová smyčka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583680" y="4645152"/>
            <a:ext cx="22219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 využití stanic teče zpět do modelu → predikce se v čase zpřesňuje. Služba žije.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9144000" y="3017520"/>
            <a:ext cx="267919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44000" y="3017520"/>
            <a:ext cx="82296" cy="292608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25" name="Shape 20"/>
          <p:cNvSpPr/>
          <p:nvPr/>
        </p:nvSpPr>
        <p:spPr>
          <a:xfrm>
            <a:off x="9418320" y="3310128"/>
            <a:ext cx="694944" cy="694944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9005" y="3490813"/>
            <a:ext cx="333573" cy="333573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418320" y="411480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Škálování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418320" y="4645152"/>
            <a:ext cx="22219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Stejný engine na 22 MČ Prahy → další krajská města → distributoři. Marginální náklad ~0.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4572000" cy="4572000"/>
          </a:xfrm>
          <a:prstGeom prst="ellipse">
            <a:avLst/>
          </a:prstGeom>
          <a:solidFill>
            <a:srgbClr val="18283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NÁŠ ÚHEL &amp; SVĚTOVÝ TREND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9552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Osvědčený přístup ze světa,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lokalizovaný na Prahu.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„EV suitability scoring“ je ve světě prověřený obor — my ho jako první stavíme na pražská data o síti a férovosti.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79192" cy="141732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2679192" cy="73152"/>
          </a:xfrm>
          <a:prstGeom prst="rect">
            <a:avLst/>
          </a:prstGeom>
          <a:solidFill>
            <a:srgbClr val="1FA8C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706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NCSU EVSE Map (USA)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mapa + vrstva kapacity sítě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2514600"/>
            <a:ext cx="2679192" cy="141732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2514600"/>
            <a:ext cx="2679192" cy="73152"/>
          </a:xfrm>
          <a:prstGeom prst="rect">
            <a:avLst/>
          </a:prstGeom>
          <a:solidFill>
            <a:srgbClr val="1FA8C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706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StreetLight Data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329184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/ Justice40 — férovost v plánování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2514600"/>
            <a:ext cx="2679192" cy="141732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2514600"/>
            <a:ext cx="2679192" cy="73152"/>
          </a:xfrm>
          <a:prstGeom prst="rect">
            <a:avLst/>
          </a:prstGeom>
          <a:solidFill>
            <a:srgbClr val="1FA8C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27706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EV-Planner, ILIT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537960" y="329184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multi-kritériální umístění dobíječek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2514600"/>
            <a:ext cx="2679192" cy="141732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0" y="2514600"/>
            <a:ext cx="2679192" cy="73152"/>
          </a:xfrm>
          <a:prstGeom prst="rect">
            <a:avLst/>
          </a:prstGeom>
          <a:solidFill>
            <a:srgbClr val="1FA8C9"/>
          </a:solidFill>
          <a:ln/>
        </p:spPr>
      </p:sp>
      <p:sp>
        <p:nvSpPr>
          <p:cNvPr id="20" name="Text 18"/>
          <p:cNvSpPr/>
          <p:nvPr/>
        </p:nvSpPr>
        <p:spPr>
          <a:xfrm>
            <a:off x="9372600" y="27706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Driivz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72600" y="3291840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ROI a využití stanic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51960"/>
            <a:ext cx="10927080" cy="1600200"/>
          </a:xfrm>
          <a:prstGeom prst="rect">
            <a:avLst/>
          </a:prstGeom>
          <a:solidFill>
            <a:srgbClr val="0E9E63">
              <a:alpha val="88000"/>
            </a:srgbClr>
          </a:solidFill>
          <a:ln w="12700">
            <a:solidFill>
              <a:srgbClr val="19C37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526280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19C37D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370" y="4740250"/>
            <a:ext cx="395021" cy="39502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201168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NÁŠ DIFERENCIÁTOR PRO PRAHU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2011680" y="4828032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Spojujeme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mobilitu × energetiku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rezerva trafostanic z PRE vrstvy + equity (byty bez stání) + scénáře růstu EV + vysvětlení „proč tady“. To samotná zahraniční tabulka neumí.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ETIKA &amp; ODPOVĚDNOST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Čtyři rizika, která bereme vážně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ne dodatek, ale součást návrhu.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606040"/>
            <a:ext cx="91440" cy="141732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898648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08408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47088" y="28254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Chybná predikce &amp; odpovědnost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847088" y="32278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je podpora rozhodnutí, ne autopilot. Doporučení = vstup pro úředníka, finální slovo má člověk.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72200" y="260604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172200" y="2606040"/>
            <a:ext cx="91440" cy="141732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2" name="Shape 9"/>
          <p:cNvSpPr/>
          <p:nvPr/>
        </p:nvSpPr>
        <p:spPr>
          <a:xfrm>
            <a:off x="6446520" y="2898648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960" y="3084088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79208" y="28254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Soukromí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379208" y="32278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Pracujeme s agregovanými daty na úrovni zón a sítě — žádné sledování pohybu jednotlivců.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420624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4206240"/>
            <a:ext cx="91440" cy="141732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4498848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840" y="4684288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47088" y="44256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Spravedlnost &amp; cold-start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847088" y="48280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equity_weight chrání okrajové a chudší čtvrti před spirálou podinvestování. Férovost je přímo ve skóre.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72200" y="4206240"/>
            <a:ext cx="5349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0E1726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172200" y="4206240"/>
            <a:ext cx="91440" cy="141732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24" name="Shape 19"/>
          <p:cNvSpPr/>
          <p:nvPr/>
        </p:nvSpPr>
        <p:spPr>
          <a:xfrm>
            <a:off x="6446520" y="4498848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0E172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960" y="4684288"/>
            <a:ext cx="342351" cy="34235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9208" y="442569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Komunikace nejistoty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379208" y="4828032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Predikce 2030 ukazujeme jako pásmo scénářů (konzervativní / střední / ambiciózní), ne jedno „zaručené“ číslo.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0E9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skóruje 2× — </a:t>
            </a:r>
            <a:pPr algn="l" indent="0" marL="0">
              <a:buNone/>
            </a:pPr>
            <a:r>
              <a:rPr lang="en-US" sz="1300" i="1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technicky (málo dat o okraji) i eticky (spravedlnost). U nás je to jeden a tentýž mechanismus.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VoltPlán</a:t>
            </a:r>
            <a:pPr algn="l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AIO_PHA-02-PHA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562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2011680"/>
            <a:ext cx="5120640" cy="5120640"/>
          </a:xfrm>
          <a:prstGeom prst="ellipse">
            <a:avLst/>
          </a:prstGeom>
          <a:solidFill>
            <a:srgbClr val="18283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9C3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TÝM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32688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Tři lidé, jedna běžící linie,</a:t>
            </a:r>
            <a:endParaRPr lang="en-US" sz="3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hotové demo.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3474720" cy="182880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2788920"/>
            <a:ext cx="3474720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306324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" y="3253435"/>
            <a:ext cx="351130" cy="3511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47088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&amp; data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50976" y="3977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predikce, suitability, anti-leakage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2788920"/>
            <a:ext cx="3474720" cy="182880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1688" y="2788920"/>
            <a:ext cx="3474720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14" name="Shape 11"/>
          <p:cNvSpPr/>
          <p:nvPr/>
        </p:nvSpPr>
        <p:spPr>
          <a:xfrm>
            <a:off x="4636008" y="306324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3253435"/>
            <a:ext cx="351130" cy="35113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50408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Aplikace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54296" y="3977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běžící mapa + živé demo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65008" y="2788920"/>
            <a:ext cx="3474720" cy="1828800"/>
          </a:xfrm>
          <a:prstGeom prst="rect">
            <a:avLst/>
          </a:prstGeom>
          <a:solidFill>
            <a:srgbClr val="18283F"/>
          </a:solidFill>
          <a:ln/>
          <a:effectLst>
            <a:outerShdw sx="100000" sy="100000" kx="0" ky="0" algn="bl" rotWithShape="0" blurRad="114300" dist="38100" dir="540000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65008" y="2788920"/>
            <a:ext cx="3474720" cy="82296"/>
          </a:xfrm>
          <a:prstGeom prst="rect">
            <a:avLst/>
          </a:prstGeom>
          <a:solidFill>
            <a:srgbClr val="19C37D"/>
          </a:solidFill>
          <a:ln/>
        </p:spPr>
      </p:sp>
      <p:sp>
        <p:nvSpPr>
          <p:cNvPr id="20" name="Shape 16"/>
          <p:cNvSpPr/>
          <p:nvPr/>
        </p:nvSpPr>
        <p:spPr>
          <a:xfrm>
            <a:off x="8339328" y="306324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0E9E63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9523" y="325343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253728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Byznys &amp; pitch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57616" y="3977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licence, ROI, etika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77240" y="5120640"/>
            <a:ext cx="3840480" cy="0"/>
          </a:xfrm>
          <a:prstGeom prst="line">
            <a:avLst/>
          </a:prstGeom>
          <a:noFill/>
          <a:ln w="25400">
            <a:solidFill>
              <a:srgbClr val="19C37D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724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9C3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VoltPlán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město přestane stavět naslepo. Děkujeme.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7772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B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Česká AI Olympiáda 2026 · AI Startup · AIO_PHA-02-PHA · krajské kolo Praha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Česká AI Olympiáda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VoltPlán — AI pro chytré rozmístění EV dobíjení v Praze</dc:title>
  <dc:subject>PptxGenJS Presentation</dc:subject>
  <dc:creator>Tým VoltPlán</dc:creator>
  <cp:lastModifiedBy>Tým VoltPlán</cp:lastModifiedBy>
  <cp:revision>1</cp:revision>
  <dcterms:created xsi:type="dcterms:W3CDTF">2026-06-09T10:55:11Z</dcterms:created>
  <dcterms:modified xsi:type="dcterms:W3CDTF">2026-06-09T10:55:11Z</dcterms:modified>
</cp:coreProperties>
</file>